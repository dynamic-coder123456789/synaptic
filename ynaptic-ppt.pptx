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57200" y="0"/>
            <a:ext cx="0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400" y="0"/>
            <a:ext cx="0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371600" y="0"/>
            <a:ext cx="0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28800" y="0"/>
            <a:ext cx="0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286000" y="0"/>
            <a:ext cx="0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43200" y="0"/>
            <a:ext cx="0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0" y="0"/>
            <a:ext cx="0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57600" y="0"/>
            <a:ext cx="0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4800" y="0"/>
            <a:ext cx="0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0" y="0"/>
            <a:ext cx="0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29200" y="0"/>
            <a:ext cx="0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486400" y="0"/>
            <a:ext cx="0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3600" y="0"/>
            <a:ext cx="0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400800" y="0"/>
            <a:ext cx="0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0"/>
            <a:ext cx="0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15200" y="0"/>
            <a:ext cx="0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772400" y="0"/>
            <a:ext cx="0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0"/>
            <a:ext cx="0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686800" y="0"/>
            <a:ext cx="0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44000" y="0"/>
            <a:ext cx="0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01200" y="0"/>
            <a:ext cx="0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058400" y="0"/>
            <a:ext cx="0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515600" y="0"/>
            <a:ext cx="0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972800" y="0"/>
            <a:ext cx="0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430000" y="0"/>
            <a:ext cx="0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887200" y="0"/>
            <a:ext cx="0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5943600"/>
            <a:ext cx="12191695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317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6350">
            <a:solidFill>
              <a:srgbClr val="28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274320" y="274320"/>
            <a:ext cx="182880" cy="0"/>
          </a:xfrm>
          <a:prstGeom prst="line">
            <a:avLst/>
          </a:prstGeom>
          <a:ln w="17780">
            <a:solidFill>
              <a:srgbClr val="FF2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74320" y="274320"/>
            <a:ext cx="0" cy="182880"/>
          </a:xfrm>
          <a:prstGeom prst="line">
            <a:avLst/>
          </a:prstGeom>
          <a:ln w="17780">
            <a:solidFill>
              <a:srgbClr val="FF2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11734495" y="274320"/>
            <a:ext cx="182880" cy="0"/>
          </a:xfrm>
          <a:prstGeom prst="line">
            <a:avLst/>
          </a:prstGeom>
          <a:ln w="17780">
            <a:solidFill>
              <a:srgbClr val="FF2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917375" y="274320"/>
            <a:ext cx="0" cy="182880"/>
          </a:xfrm>
          <a:prstGeom prst="line">
            <a:avLst/>
          </a:prstGeom>
          <a:ln w="17780">
            <a:solidFill>
              <a:srgbClr val="FF2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74320" y="6583680"/>
            <a:ext cx="182880" cy="0"/>
          </a:xfrm>
          <a:prstGeom prst="line">
            <a:avLst/>
          </a:prstGeom>
          <a:ln w="17780">
            <a:solidFill>
              <a:srgbClr val="FF2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74320" y="6400800"/>
            <a:ext cx="0" cy="182880"/>
          </a:xfrm>
          <a:prstGeom prst="line">
            <a:avLst/>
          </a:prstGeom>
          <a:ln w="17780">
            <a:solidFill>
              <a:srgbClr val="FF2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1734495" y="6583680"/>
            <a:ext cx="182880" cy="0"/>
          </a:xfrm>
          <a:prstGeom prst="line">
            <a:avLst/>
          </a:prstGeom>
          <a:ln w="17780">
            <a:solidFill>
              <a:srgbClr val="FF2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1917375" y="6400800"/>
            <a:ext cx="0" cy="182880"/>
          </a:xfrm>
          <a:prstGeom prst="line">
            <a:avLst/>
          </a:prstGeom>
          <a:ln w="17780">
            <a:solidFill>
              <a:srgbClr val="FF2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94360" y="5486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20">
                <a:solidFill>
                  <a:srgbClr val="F3F0EA"/>
                </a:solidFill>
                <a:latin typeface="Consolas"/>
              </a:rPr>
              <a:t>N° 00 — INTRO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8229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80">
                <a:solidFill>
                  <a:srgbClr val="F3F0EA"/>
                </a:solidFill>
                <a:latin typeface="Impact"/>
              </a:rPr>
              <a:t>synaptic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5486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20">
                <a:solidFill>
                  <a:srgbClr val="F3F0EA"/>
                </a:solidFill>
                <a:latin typeface="Consolas"/>
              </a:rPr>
              <a:t>AI TELEREHAB · LISBON ·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8229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 spc="140">
                <a:solidFill>
                  <a:srgbClr val="FF2A1A"/>
                </a:solidFill>
                <a:latin typeface="Consolas"/>
              </a:rPr>
              <a:t>●  Live — calibrating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94360" y="1417320"/>
            <a:ext cx="11002975" cy="0"/>
          </a:xfrm>
          <a:prstGeom prst="line">
            <a:avLst/>
          </a:prstGeom>
          <a:ln w="762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94360" y="16276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FF2A1A"/>
                </a:solidFill>
                <a:latin typeface="Consolas"/>
              </a:rPr>
              <a:t>SYNAPTIC · TELEREHABILITATION · FOUR PRODUCTS · ONE NERVOUS SYSTEM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68335" y="162763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20">
                <a:solidFill>
                  <a:srgbClr val="F3F0EA"/>
                </a:solidFill>
                <a:latin typeface="Consolas"/>
              </a:rPr>
              <a:t>v.01 / 2026 · 01 / 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8047" y="2331720"/>
            <a:ext cx="10515600" cy="1965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0" b="1" i="0" spc="-60">
                <a:solidFill>
                  <a:srgbClr val="F3F0EA"/>
                </a:solidFill>
                <a:latin typeface="Impact"/>
              </a:rPr>
              <a:t>synaptic</a:t>
            </a:r>
            <a:r>
              <a:rPr sz="24000" b="1" i="0" spc="-60">
                <a:solidFill>
                  <a:srgbClr val="FF2A1A"/>
                </a:solidFill>
                <a:latin typeface="Impact"/>
              </a:rPr>
              <a:t>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8047" y="44348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0" i="1" spc="0">
                <a:solidFill>
                  <a:srgbClr val="E9E4D8"/>
                </a:solidFill>
                <a:latin typeface="Georgia"/>
              </a:rPr>
              <a:t>An AI-driven advanced telerehab platform.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8047" y="4983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 spc="320">
                <a:solidFill>
                  <a:srgbClr val="B8AE96"/>
                </a:solidFill>
                <a:latin typeface="Consolas"/>
              </a:rPr>
              <a:t>REHABILITATION · INTELLIGENTLY COMPOSED · DELIVERED REMOTELY · CLINIC-GRADE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389120" y="5413248"/>
            <a:ext cx="3383280" cy="0"/>
          </a:xfrm>
          <a:prstGeom prst="line">
            <a:avLst/>
          </a:prstGeom>
          <a:ln w="17780">
            <a:solidFill>
              <a:srgbClr val="FF2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94360" y="557784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40">
                <a:solidFill>
                  <a:srgbClr val="FF2A1A"/>
                </a:solidFill>
                <a:latin typeface="Consolas"/>
              </a:rPr>
              <a:t>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4360" y="5870448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 spc="-30">
                <a:solidFill>
                  <a:srgbClr val="F3F0EA"/>
                </a:solidFill>
                <a:latin typeface="Impact"/>
              </a:rPr>
              <a:t>Recovr.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" y="6419088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60">
                <a:solidFill>
                  <a:srgbClr val="B8AE96"/>
                </a:solidFill>
                <a:latin typeface="Consolas"/>
              </a:rPr>
              <a:t>WEARABLE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4360" y="6638544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E9E4D8"/>
                </a:solidFill>
                <a:latin typeface="Georgia"/>
              </a:rPr>
              <a:t>Vitals + SOS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62858" y="557784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40">
                <a:solidFill>
                  <a:srgbClr val="FF2A1A"/>
                </a:solidFill>
                <a:latin typeface="Consolas"/>
              </a:rPr>
              <a:t>02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62858" y="5870448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 spc="-30">
                <a:solidFill>
                  <a:srgbClr val="F3F0EA"/>
                </a:solidFill>
                <a:latin typeface="Impact"/>
              </a:rPr>
              <a:t>Phenome.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62858" y="6419088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60">
                <a:solidFill>
                  <a:srgbClr val="B8AE96"/>
                </a:solidFill>
                <a:latin typeface="Consolas"/>
              </a:rPr>
              <a:t>VOICE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62858" y="6638544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E9E4D8"/>
                </a:solidFill>
                <a:latin typeface="Georgia"/>
              </a:rPr>
              <a:t>Automation · 20 langs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31356" y="557784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40">
                <a:solidFill>
                  <a:srgbClr val="FF2A1A"/>
                </a:solidFill>
                <a:latin typeface="Consolas"/>
              </a:rPr>
              <a:t>03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31356" y="5870448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 spc="-30">
                <a:solidFill>
                  <a:srgbClr val="F3F0EA"/>
                </a:solidFill>
                <a:latin typeface="Impact"/>
              </a:rPr>
              <a:t>Cerebrum.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31356" y="6419088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60">
                <a:solidFill>
                  <a:srgbClr val="B8AE96"/>
                </a:solidFill>
                <a:latin typeface="Consolas"/>
              </a:rPr>
              <a:t>VISION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31356" y="6638544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E9E4D8"/>
                </a:solidFill>
                <a:latin typeface="Georgia"/>
              </a:rPr>
              <a:t>Hand-training AI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99855" y="557784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40">
                <a:solidFill>
                  <a:srgbClr val="FF2A1A"/>
                </a:solidFill>
                <a:latin typeface="Consolas"/>
              </a:rPr>
              <a:t>04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899855" y="5870448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 spc="-30">
                <a:solidFill>
                  <a:srgbClr val="F3F0EA"/>
                </a:solidFill>
                <a:latin typeface="Impact"/>
              </a:rPr>
              <a:t>Coach. Notes.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99855" y="6419088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60">
                <a:solidFill>
                  <a:srgbClr val="B8AE96"/>
                </a:solidFill>
                <a:latin typeface="Consolas"/>
              </a:rPr>
              <a:t>SURFACES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99855" y="6638544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E9E4D8"/>
                </a:solidFill>
                <a:latin typeface="Georgia"/>
              </a:rPr>
              <a:t>Patient + Clinician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94360" y="6355080"/>
            <a:ext cx="11002975" cy="0"/>
          </a:xfrm>
          <a:prstGeom prst="line">
            <a:avLst/>
          </a:prstGeom>
          <a:ln w="762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94360" y="644652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40">
                <a:solidFill>
                  <a:srgbClr val="F3F0EA"/>
                </a:solidFill>
                <a:latin typeface="Consolas"/>
              </a:rPr>
              <a:t>brief@synaptic.health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4360" y="667512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B8AE96"/>
                </a:solidFill>
                <a:latin typeface="Consolas"/>
              </a:rPr>
              <a:t>Now onboarding 04 clinical pilots · Q3 2026 · Lisbon × Lagos × Lima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979615" y="6446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20">
                <a:solidFill>
                  <a:srgbClr val="F3F0EA"/>
                </a:solidFill>
                <a:latin typeface="Consolas"/>
              </a:rPr>
              <a:t>RECOVR · PHENOME · CEREBRUM · COACH &amp; NOTES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79615" y="667512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B8AE96"/>
                </a:solidFill>
                <a:latin typeface="Georgia"/>
              </a:rPr>
              <a:t>A swarm of four products, one source of truth.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